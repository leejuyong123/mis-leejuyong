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71" r:id="rId10"/>
    <p:sldId id="263" r:id="rId11"/>
    <p:sldId id="267" r:id="rId12"/>
    <p:sldId id="266" r:id="rId13"/>
    <p:sldId id="268" r:id="rId14"/>
    <p:sldId id="269" r:id="rId15"/>
    <p:sldId id="272" r:id="rId16"/>
    <p:sldId id="262" r:id="rId17"/>
    <p:sldId id="273" r:id="rId18"/>
    <p:sldId id="270" r:id="rId19"/>
  </p:sldIdLst>
  <p:sldSz cx="6661150" cy="6661150"/>
  <p:notesSz cx="6858000" cy="9144000"/>
  <p:defaultTextStyle>
    <a:defPPr>
      <a:defRPr lang="ko-KR"/>
    </a:defPPr>
    <a:lvl1pPr marL="0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0619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61238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41857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22476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03095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83714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664333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44952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0000"/>
    <a:srgbClr val="FFFFFF"/>
    <a:srgbClr val="FFCC00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932" y="-108"/>
      </p:cViewPr>
      <p:guideLst>
        <p:guide orient="horz" pos="2098"/>
        <p:guide pos="20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99586" y="2069274"/>
            <a:ext cx="5661978" cy="142783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99173" y="3774652"/>
            <a:ext cx="4662805" cy="17022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1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2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3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3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4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4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6185" y="4280406"/>
            <a:ext cx="5661978" cy="1322978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26185" y="2823280"/>
            <a:ext cx="5661978" cy="1457126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8061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23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418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224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030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283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66433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04495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42855" y="1509553"/>
            <a:ext cx="2127867" cy="4269612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481741" y="1509553"/>
            <a:ext cx="2127867" cy="4269612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8" y="266755"/>
            <a:ext cx="5995035" cy="1110192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3057" y="1491050"/>
            <a:ext cx="2943165" cy="621398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619" indent="0">
              <a:buNone/>
              <a:defRPr sz="1700" b="1"/>
            </a:lvl2pPr>
            <a:lvl3pPr marL="761238" indent="0">
              <a:buNone/>
              <a:defRPr sz="1500" b="1"/>
            </a:lvl3pPr>
            <a:lvl4pPr marL="1141857" indent="0">
              <a:buNone/>
              <a:defRPr sz="1300" b="1"/>
            </a:lvl4pPr>
            <a:lvl5pPr marL="1522476" indent="0">
              <a:buNone/>
              <a:defRPr sz="1300" b="1"/>
            </a:lvl5pPr>
            <a:lvl6pPr marL="1903095" indent="0">
              <a:buNone/>
              <a:defRPr sz="1300" b="1"/>
            </a:lvl6pPr>
            <a:lvl7pPr marL="2283714" indent="0">
              <a:buNone/>
              <a:defRPr sz="1300" b="1"/>
            </a:lvl7pPr>
            <a:lvl8pPr marL="2664333" indent="0">
              <a:buNone/>
              <a:defRPr sz="1300" b="1"/>
            </a:lvl8pPr>
            <a:lvl9pPr marL="3044952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33057" y="2112448"/>
            <a:ext cx="2943165" cy="383787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383772" y="1491050"/>
            <a:ext cx="2944321" cy="621398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619" indent="0">
              <a:buNone/>
              <a:defRPr sz="1700" b="1"/>
            </a:lvl2pPr>
            <a:lvl3pPr marL="761238" indent="0">
              <a:buNone/>
              <a:defRPr sz="1500" b="1"/>
            </a:lvl3pPr>
            <a:lvl4pPr marL="1141857" indent="0">
              <a:buNone/>
              <a:defRPr sz="1300" b="1"/>
            </a:lvl4pPr>
            <a:lvl5pPr marL="1522476" indent="0">
              <a:buNone/>
              <a:defRPr sz="1300" b="1"/>
            </a:lvl5pPr>
            <a:lvl6pPr marL="1903095" indent="0">
              <a:buNone/>
              <a:defRPr sz="1300" b="1"/>
            </a:lvl6pPr>
            <a:lvl7pPr marL="2283714" indent="0">
              <a:buNone/>
              <a:defRPr sz="1300" b="1"/>
            </a:lvl7pPr>
            <a:lvl8pPr marL="2664333" indent="0">
              <a:buNone/>
              <a:defRPr sz="1300" b="1"/>
            </a:lvl8pPr>
            <a:lvl9pPr marL="3044952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383772" y="2112448"/>
            <a:ext cx="2944321" cy="383787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8" y="265212"/>
            <a:ext cx="2191472" cy="1128695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04325" y="265213"/>
            <a:ext cx="3723768" cy="5685107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33058" y="1393908"/>
            <a:ext cx="2191472" cy="4556412"/>
          </a:xfrm>
        </p:spPr>
        <p:txBody>
          <a:bodyPr/>
          <a:lstStyle>
            <a:lvl1pPr marL="0" indent="0">
              <a:buNone/>
              <a:defRPr sz="1200"/>
            </a:lvl1pPr>
            <a:lvl2pPr marL="380619" indent="0">
              <a:buNone/>
              <a:defRPr sz="1000"/>
            </a:lvl2pPr>
            <a:lvl3pPr marL="761238" indent="0">
              <a:buNone/>
              <a:defRPr sz="800"/>
            </a:lvl3pPr>
            <a:lvl4pPr marL="1141857" indent="0">
              <a:buNone/>
              <a:defRPr sz="700"/>
            </a:lvl4pPr>
            <a:lvl5pPr marL="1522476" indent="0">
              <a:buNone/>
              <a:defRPr sz="700"/>
            </a:lvl5pPr>
            <a:lvl6pPr marL="1903095" indent="0">
              <a:buNone/>
              <a:defRPr sz="700"/>
            </a:lvl6pPr>
            <a:lvl7pPr marL="2283714" indent="0">
              <a:buNone/>
              <a:defRPr sz="700"/>
            </a:lvl7pPr>
            <a:lvl8pPr marL="2664333" indent="0">
              <a:buNone/>
              <a:defRPr sz="700"/>
            </a:lvl8pPr>
            <a:lvl9pPr marL="3044952" indent="0">
              <a:buNone/>
              <a:defRPr sz="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05632" y="4662805"/>
            <a:ext cx="3996690" cy="550471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05632" y="595186"/>
            <a:ext cx="3996690" cy="3996690"/>
          </a:xfrm>
        </p:spPr>
        <p:txBody>
          <a:bodyPr/>
          <a:lstStyle>
            <a:lvl1pPr marL="0" indent="0">
              <a:buNone/>
              <a:defRPr sz="2700"/>
            </a:lvl1pPr>
            <a:lvl2pPr marL="380619" indent="0">
              <a:buNone/>
              <a:defRPr sz="2300"/>
            </a:lvl2pPr>
            <a:lvl3pPr marL="761238" indent="0">
              <a:buNone/>
              <a:defRPr sz="2000"/>
            </a:lvl3pPr>
            <a:lvl4pPr marL="1141857" indent="0">
              <a:buNone/>
              <a:defRPr sz="1700"/>
            </a:lvl4pPr>
            <a:lvl5pPr marL="1522476" indent="0">
              <a:buNone/>
              <a:defRPr sz="1700"/>
            </a:lvl5pPr>
            <a:lvl6pPr marL="1903095" indent="0">
              <a:buNone/>
              <a:defRPr sz="1700"/>
            </a:lvl6pPr>
            <a:lvl7pPr marL="2283714" indent="0">
              <a:buNone/>
              <a:defRPr sz="1700"/>
            </a:lvl7pPr>
            <a:lvl8pPr marL="2664333" indent="0">
              <a:buNone/>
              <a:defRPr sz="1700"/>
            </a:lvl8pPr>
            <a:lvl9pPr marL="3044952" indent="0">
              <a:buNone/>
              <a:defRPr sz="17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05632" y="5213276"/>
            <a:ext cx="3996690" cy="781759"/>
          </a:xfrm>
        </p:spPr>
        <p:txBody>
          <a:bodyPr/>
          <a:lstStyle>
            <a:lvl1pPr marL="0" indent="0">
              <a:buNone/>
              <a:defRPr sz="1200"/>
            </a:lvl1pPr>
            <a:lvl2pPr marL="380619" indent="0">
              <a:buNone/>
              <a:defRPr sz="1000"/>
            </a:lvl2pPr>
            <a:lvl3pPr marL="761238" indent="0">
              <a:buNone/>
              <a:defRPr sz="800"/>
            </a:lvl3pPr>
            <a:lvl4pPr marL="1141857" indent="0">
              <a:buNone/>
              <a:defRPr sz="700"/>
            </a:lvl4pPr>
            <a:lvl5pPr marL="1522476" indent="0">
              <a:buNone/>
              <a:defRPr sz="700"/>
            </a:lvl5pPr>
            <a:lvl6pPr marL="1903095" indent="0">
              <a:buNone/>
              <a:defRPr sz="700"/>
            </a:lvl6pPr>
            <a:lvl7pPr marL="2283714" indent="0">
              <a:buNone/>
              <a:defRPr sz="700"/>
            </a:lvl7pPr>
            <a:lvl8pPr marL="2664333" indent="0">
              <a:buNone/>
              <a:defRPr sz="700"/>
            </a:lvl8pPr>
            <a:lvl9pPr marL="3044952" indent="0">
              <a:buNone/>
              <a:defRPr sz="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517920" y="259045"/>
            <a:ext cx="1091688" cy="552012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42855" y="259045"/>
            <a:ext cx="3164046" cy="552012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33058" y="266755"/>
            <a:ext cx="5995035" cy="1110192"/>
          </a:xfrm>
          <a:prstGeom prst="rect">
            <a:avLst/>
          </a:prstGeom>
        </p:spPr>
        <p:txBody>
          <a:bodyPr vert="horz" lIns="76124" tIns="38062" rIns="76124" bIns="38062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3058" y="1554269"/>
            <a:ext cx="5995035" cy="4396051"/>
          </a:xfrm>
          <a:prstGeom prst="rect">
            <a:avLst/>
          </a:prstGeom>
        </p:spPr>
        <p:txBody>
          <a:bodyPr vert="horz" lIns="76124" tIns="38062" rIns="76124" bIns="38062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33058" y="6173899"/>
            <a:ext cx="1554268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089F4-7946-4CC1-9B94-F70B3A4D1A1E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5893" y="6173899"/>
            <a:ext cx="2109364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73824" y="6173899"/>
            <a:ext cx="1554268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238" rtl="0" eaLnBrk="1" latinLnBrk="1" hangingPunct="1"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464" indent="-285464" algn="l" defTabSz="761238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18506" indent="-237887" algn="l" defTabSz="761238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51548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2167" indent="-190310" algn="l" defTabSz="761238" rtl="0" eaLnBrk="1" latinLnBrk="1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2786" indent="-190310" algn="l" defTabSz="761238" rtl="0" eaLnBrk="1" latinLnBrk="1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3405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474024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854643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235262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619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38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1857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2476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3095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3714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4333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4952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78000"/>
            <a:lum bright="11000" contrast="-53000"/>
          </a:blip>
          <a:srcRect/>
          <a:stretch>
            <a:fillRect l="-38000" r="-3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90615" y="5634831"/>
            <a:ext cx="2731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 smtClean="0"/>
              <a:t> 201421370 </a:t>
            </a:r>
            <a:r>
              <a:rPr lang="ko-KR" altLang="en-US" sz="2000" b="1" dirty="0" smtClean="0"/>
              <a:t>경영학과</a:t>
            </a:r>
            <a:endParaRPr lang="en-US" altLang="ko-KR" sz="2000" b="1" dirty="0" smtClean="0"/>
          </a:p>
          <a:p>
            <a:pPr algn="r"/>
            <a:r>
              <a:rPr lang="ko-KR" altLang="en-US" sz="2000" b="1" dirty="0" smtClean="0"/>
              <a:t>이주용</a:t>
            </a:r>
            <a:endParaRPr lang="ko-KR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242343" y="1746399"/>
            <a:ext cx="3225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</a:t>
            </a:r>
            <a:endParaRPr lang="ko-KR" altLang="en-US" dirty="0"/>
          </a:p>
        </p:txBody>
      </p:sp>
      <p:sp useBgFill="1">
        <p:nvSpPr>
          <p:cNvPr id="5" name="직사각형 4"/>
          <p:cNvSpPr/>
          <p:nvPr/>
        </p:nvSpPr>
        <p:spPr>
          <a:xfrm>
            <a:off x="666279" y="720080"/>
            <a:ext cx="5400600" cy="3618607"/>
          </a:xfrm>
          <a:prstGeom prst="rect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한국 축구</a:t>
            </a:r>
            <a:endParaRPr lang="en-US" altLang="ko-KR" sz="4000" dirty="0" smtClean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/>
            <a:r>
              <a:rPr lang="ko-KR" altLang="en-US" sz="4000" dirty="0" smtClean="0">
                <a:latin typeface="HY견고딕" pitchFamily="18" charset="-127"/>
                <a:ea typeface="HY견고딕" pitchFamily="18" charset="-127"/>
              </a:rPr>
              <a:t>이대로 괜찮을까요</a:t>
            </a:r>
            <a:r>
              <a:rPr lang="en-US" altLang="ko-KR" sz="4000" dirty="0" smtClean="0">
                <a:latin typeface="HY견고딕" pitchFamily="18" charset="-127"/>
                <a:ea typeface="HY견고딕" pitchFamily="18" charset="-127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661150" cy="1818406"/>
          </a:xfrm>
          <a:solidFill>
            <a:schemeClr val="tx1">
              <a:alpha val="76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지난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26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일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김호곤 기술위원장은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2018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러시아 월드컵을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신태용 감독 체제로 이어나가겠다고 밝혔다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2229" y="4986759"/>
            <a:ext cx="61766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“</a:t>
            </a:r>
            <a:r>
              <a:rPr lang="ko-KR" altLang="en-US" sz="1600" b="1" dirty="0" err="1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그동안</a:t>
            </a:r>
            <a:r>
              <a:rPr lang="ko-KR" altLang="en-US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 여러 차례 이야기를 했지만 신태용 감독 체제로 </a:t>
            </a:r>
            <a:endParaRPr lang="en-US" altLang="ko-KR" sz="1600" b="1" dirty="0" smtClean="0">
              <a:solidFill>
                <a:schemeClr val="bg1"/>
              </a:solidFill>
              <a:latin typeface="나눔바른펜" pitchFamily="50" charset="-127"/>
              <a:ea typeface="나눔바른펜" pitchFamily="50" charset="-127"/>
            </a:endParaRPr>
          </a:p>
          <a:p>
            <a:r>
              <a:rPr lang="ko-KR" altLang="en-US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내년 월드컵을 펼치겠다는 생각은 변함없다</a:t>
            </a:r>
            <a:r>
              <a:rPr lang="en-US" altLang="ko-KR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. </a:t>
            </a:r>
          </a:p>
          <a:p>
            <a:r>
              <a:rPr lang="ko-KR" altLang="en-US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더 이상 불필요한 논란이 벌어지지 않도록 만들어 주시기 바란다</a:t>
            </a:r>
            <a:r>
              <a:rPr lang="en-US" altLang="ko-KR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”</a:t>
            </a:r>
          </a:p>
          <a:p>
            <a:endParaRPr lang="en-US" altLang="ko-KR" sz="1600" b="1" dirty="0">
              <a:solidFill>
                <a:schemeClr val="bg1"/>
              </a:solidFill>
              <a:latin typeface="나눔바른펜" pitchFamily="50" charset="-127"/>
              <a:ea typeface="나눔바른펜" pitchFamily="50" charset="-127"/>
            </a:endParaRPr>
          </a:p>
          <a:p>
            <a:pPr algn="r"/>
            <a:r>
              <a:rPr lang="en-US" altLang="ko-KR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- </a:t>
            </a:r>
            <a:r>
              <a:rPr lang="ko-KR" altLang="en-US" sz="16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김호곤 대한 축구협회 기술위원장</a:t>
            </a:r>
            <a:endParaRPr lang="ko-KR" altLang="en-US" b="1" dirty="0">
              <a:latin typeface="나눔바른펜" pitchFamily="50" charset="-127"/>
              <a:ea typeface="나눔바른펜" pitchFamily="50" charset="-127"/>
            </a:endParaRPr>
          </a:p>
        </p:txBody>
      </p:sp>
      <p:pic>
        <p:nvPicPr>
          <p:cNvPr id="1027" name="Picture 3" descr="C:\Users\이주용\Desktop\NISI20170704_0013168307_web_2017070414505361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261" y="1530375"/>
            <a:ext cx="5652628" cy="31972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661150" cy="1818406"/>
          </a:xfrm>
          <a:solidFill>
            <a:schemeClr val="tx1">
              <a:alpha val="76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감독에 대한 언급도 있었다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247" y="5058767"/>
            <a:ext cx="583845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“</a:t>
            </a:r>
            <a:r>
              <a:rPr lang="ko-KR" altLang="en-US" b="1" dirty="0" err="1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히딩크</a:t>
            </a:r>
            <a:r>
              <a:rPr lang="ko-KR" altLang="en-US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 감독이 지닌 풍부한 경험이 큰 도움이 될 것</a:t>
            </a:r>
            <a:r>
              <a:rPr lang="en-US" altLang="ko-KR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”</a:t>
            </a:r>
          </a:p>
          <a:p>
            <a:r>
              <a:rPr lang="en-US" altLang="ko-KR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“</a:t>
            </a:r>
            <a:r>
              <a:rPr lang="ko-KR" altLang="en-US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네덜란드 기자 회견 이후 협회에서 메일을 보내 구체적 역할 및 조건을</a:t>
            </a:r>
            <a:endParaRPr lang="en-US" altLang="ko-KR" b="1" dirty="0" smtClean="0">
              <a:solidFill>
                <a:schemeClr val="bg1"/>
              </a:solidFill>
              <a:latin typeface="나눔바른펜" pitchFamily="50" charset="-127"/>
              <a:ea typeface="나눔바른펜" pitchFamily="50" charset="-127"/>
            </a:endParaRPr>
          </a:p>
          <a:p>
            <a:r>
              <a:rPr lang="ko-KR" altLang="en-US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원하는 게 있는지 의사를 물었고</a:t>
            </a:r>
            <a:r>
              <a:rPr lang="en-US" altLang="ko-KR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, </a:t>
            </a:r>
            <a:r>
              <a:rPr lang="ko-KR" altLang="en-US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회신이 오면 협의를 통해 잘 처리하겠다</a:t>
            </a:r>
            <a:r>
              <a:rPr lang="en-US" altLang="ko-KR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.”</a:t>
            </a:r>
          </a:p>
          <a:p>
            <a:endParaRPr lang="en-US" altLang="ko-KR" b="1" dirty="0" smtClean="0">
              <a:solidFill>
                <a:schemeClr val="bg1"/>
              </a:solidFill>
              <a:latin typeface="나눔바른펜" pitchFamily="50" charset="-127"/>
              <a:ea typeface="나눔바른펜" pitchFamily="50" charset="-127"/>
            </a:endParaRPr>
          </a:p>
          <a:p>
            <a:pPr algn="ctr"/>
            <a:r>
              <a:rPr lang="en-US" altLang="ko-KR" sz="14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                                                       -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바른펜" pitchFamily="50" charset="-127"/>
                <a:ea typeface="나눔바른펜" pitchFamily="50" charset="-127"/>
              </a:rPr>
              <a:t>김호곤 대한 축구협회 기술위원장</a:t>
            </a:r>
            <a:endParaRPr lang="ko-KR" altLang="en-US" b="1" dirty="0" smtClean="0">
              <a:latin typeface="나눔바른펜" pitchFamily="50" charset="-127"/>
              <a:ea typeface="나눔바른펜" pitchFamily="50" charset="-127"/>
            </a:endParaRPr>
          </a:p>
        </p:txBody>
      </p:sp>
      <p:pic>
        <p:nvPicPr>
          <p:cNvPr id="2050" name="Picture 2" descr="C:\Users\이주용\Desktop\PYH2014012106740001300_P2_59_201401211349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9325" y="1458367"/>
            <a:ext cx="4762500" cy="3105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698727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하지만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감독 논란을 해결하지는 못했다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6" name="Picture 2" descr="C:\Users\이주용\Desktop\0000211009_001_2017101108314238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979" y="522263"/>
            <a:ext cx="5123192" cy="324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698727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이미 비리로 논란이 불거진 대한축구협회에 대한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비난은 끊임없이 이어지고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074" name="Picture 2" descr="C:\Users\이주용\Desktop\IBB6XbWeCknHThkLSKkGae1O6M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575" y="666279"/>
            <a:ext cx="5760000" cy="32387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554711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이러한 논란 속에 우리의 좋은 추억으로 남아있던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2002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년 월드컵을 성공적으로 이끌었던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6147" name="Picture 3" descr="C:\Users\이주용\Desktop\안정환_골_세레머니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102" y="522263"/>
            <a:ext cx="5902945" cy="3312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554711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우리나라의 축구 발전에 많은 기여를 했던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b="1" dirty="0" err="1" smtClean="0">
                <a:solidFill>
                  <a:srgbClr val="00B050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b="1" dirty="0" smtClean="0">
                <a:solidFill>
                  <a:srgbClr val="00B050"/>
                </a:solidFill>
                <a:latin typeface="HY강M" pitchFamily="18" charset="-127"/>
                <a:ea typeface="HY강M" pitchFamily="18" charset="-127"/>
              </a:rPr>
              <a:t> 감독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이라는 사람을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 순간에 잃어버렸다는 허탈감이 든다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7170" name="Picture 2" descr="C:\Users\이주용\Desktop\IMG_508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775" y="450255"/>
            <a:ext cx="5563600" cy="3154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594271"/>
            <a:ext cx="5995035" cy="1110192"/>
          </a:xfrm>
        </p:spPr>
        <p:txBody>
          <a:bodyPr>
            <a:normAutofit fontScale="90000"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한편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대한민국은 러시아월드컵 본선 진출을 이루었지만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 축구의 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경기력은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최악이었다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0542" y="5634831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‘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무</a:t>
            </a:r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’ ,  ‘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패</a:t>
            </a:r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’  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행진</a:t>
            </a:r>
            <a:endParaRPr lang="ko-KR" altLang="en-US" sz="3600" b="1" dirty="0">
              <a:solidFill>
                <a:srgbClr val="C00000"/>
              </a:solidFill>
              <a:ea typeface="HY강M" pitchFamily="18" charset="-127"/>
            </a:endParaRPr>
          </a:p>
        </p:txBody>
      </p:sp>
      <p:pic>
        <p:nvPicPr>
          <p:cNvPr id="2050" name="Picture 2" descr="C:\Users\이주용\Desktop\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263" y="2538487"/>
            <a:ext cx="1944216" cy="1152128"/>
          </a:xfrm>
          <a:prstGeom prst="rect">
            <a:avLst/>
          </a:prstGeom>
          <a:noFill/>
        </p:spPr>
      </p:pic>
      <p:pic>
        <p:nvPicPr>
          <p:cNvPr id="2051" name="Picture 3" descr="C:\Users\이주용\Desktop\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0575" y="3690615"/>
            <a:ext cx="1834764" cy="936104"/>
          </a:xfrm>
          <a:prstGeom prst="rect">
            <a:avLst/>
          </a:prstGeom>
          <a:noFill/>
        </p:spPr>
      </p:pic>
      <p:pic>
        <p:nvPicPr>
          <p:cNvPr id="2052" name="Picture 4" descr="C:\Users\이주용\Desktop\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5022" y="3690615"/>
            <a:ext cx="1765553" cy="936104"/>
          </a:xfrm>
          <a:prstGeom prst="rect">
            <a:avLst/>
          </a:prstGeom>
          <a:noFill/>
        </p:spPr>
      </p:pic>
      <p:pic>
        <p:nvPicPr>
          <p:cNvPr id="2053" name="Picture 5" descr="C:\Users\이주용\Desktop\5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6679" y="2538487"/>
            <a:ext cx="1690623" cy="1152128"/>
          </a:xfrm>
          <a:prstGeom prst="rect">
            <a:avLst/>
          </a:prstGeom>
          <a:noFill/>
        </p:spPr>
      </p:pic>
      <p:pic>
        <p:nvPicPr>
          <p:cNvPr id="2055" name="Picture 7" descr="C:\Users\이주용\Desktop\9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66479" y="2538487"/>
            <a:ext cx="1800200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한국 축구 팬들은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대한민국의 축구 행정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경기력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등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모든 것에 실망을 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6" name="Picture 2" descr="C:\Users\이주용\Desktop\0002760856_004_2017101014510528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575" y="306239"/>
            <a:ext cx="5760000" cy="32403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현 실태에 대해 비꼬며 비난을 퍼붓고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" name="Picture 2" descr="C:\Users\이주용\Desktop\캡처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59" y="378247"/>
            <a:ext cx="5688632" cy="34563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842743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또한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이전에는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심판 매수 사건이 있었다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9218" name="Picture 2" descr="C:\Users\이주용\Desktop\2016-06-02_06;16;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247" y="347231"/>
            <a:ext cx="5847130" cy="32713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 사건에 대해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팬들은 분노했고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이에 대해 중징계를 요구했다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8194" name="Picture 2" descr="C:\Users\이주용\Desktop\560672_240498_320_99_201610022033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247" y="378247"/>
            <a:ext cx="5904656" cy="33964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하지만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연맹은 단지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승점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9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점 감점과 벌금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1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억원이라는</a:t>
            </a: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rgbClr val="FFC000"/>
                </a:solidFill>
                <a:latin typeface="HY강M" pitchFamily="18" charset="-127"/>
                <a:ea typeface="HY강M" pitchFamily="18" charset="-127"/>
              </a:rPr>
              <a:t>솜방망이 처벌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을 내렸다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42" name="Picture 2" descr="C:\Users\이주용\Desktop\mug_obj_1475558163097178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267" y="378247"/>
            <a:ext cx="5544616" cy="36957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이탈리아의 </a:t>
            </a:r>
            <a:r>
              <a:rPr lang="ko-KR" altLang="en-US" sz="2000" dirty="0" err="1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칼치오폴리</a:t>
            </a:r>
            <a:r>
              <a:rPr lang="en-US" altLang="ko-KR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(</a:t>
            </a:r>
            <a:r>
              <a:rPr lang="ko-KR" altLang="en-US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승부조작</a:t>
            </a:r>
            <a:r>
              <a:rPr lang="en-US" altLang="ko-KR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)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사건에 대해 </a:t>
            </a: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단계 강등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승점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30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점 감점이라는 중징계를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내렸던 것과는 비교가 된다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1268" name="Picture 4" descr="C:\Users\이주용\Desktop\483276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8225" y="306239"/>
            <a:ext cx="2044700" cy="33258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이후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리그는 팬들에게 신뢰를 잃었고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‘</a:t>
            </a:r>
            <a:r>
              <a:rPr lang="ko-KR" altLang="en-US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오심 리그</a:t>
            </a:r>
            <a:r>
              <a:rPr lang="en-US" altLang="ko-KR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’,‘</a:t>
            </a:r>
            <a:r>
              <a:rPr lang="ko-KR" altLang="en-US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매수 리그</a:t>
            </a:r>
            <a:r>
              <a:rPr lang="en-US" altLang="ko-KR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’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라는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치욕스런 말도 듣고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074" name="Picture 2" descr="C:\Users\이주용\Desktop\sed0120130523142707_59_201305231433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59" y="378247"/>
            <a:ext cx="5688632" cy="3538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3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년 전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브라질 월드컵과 똑같은 시나리오를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밟지 않기 위해 대한민국 축구는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rgbClr val="FFFF00"/>
                </a:solidFill>
                <a:latin typeface="HY강M" pitchFamily="18" charset="-127"/>
                <a:ea typeface="HY강M" pitchFamily="18" charset="-127"/>
              </a:rPr>
              <a:t>개혁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 필요해 보인다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5123" name="Picture 3" descr="C:\Users\이주용\Desktop\PYH2014063000290001300_P2_99_201406300723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619" y="882303"/>
            <a:ext cx="5519912" cy="331236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482703" y="522263"/>
            <a:ext cx="1582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</a:rPr>
              <a:t>2014 </a:t>
            </a:r>
            <a:r>
              <a:rPr lang="ko-KR" altLang="en-US" sz="800" dirty="0" smtClean="0">
                <a:solidFill>
                  <a:schemeClr val="bg1"/>
                </a:solidFill>
              </a:rPr>
              <a:t>브라질 월드컵 귀국 현장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신뢰를 회복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하는 것이 가장 우선이다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4098" name="Picture 2" descr="C:\Users\이주용\Desktop\워렌_버핏_명언_모음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267" y="882303"/>
            <a:ext cx="5544616" cy="367240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86759" y="450255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-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워런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버핏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914751"/>
            <a:ext cx="5995035" cy="1110192"/>
          </a:xfrm>
        </p:spPr>
        <p:txBody>
          <a:bodyPr>
            <a:normAutofit fontScale="90000"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4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400" b="1" dirty="0" smtClean="0">
                <a:solidFill>
                  <a:srgbClr val="FF6600"/>
                </a:solidFill>
                <a:latin typeface="HY강M" pitchFamily="18" charset="-127"/>
                <a:ea typeface="HY강M" pitchFamily="18" charset="-127"/>
              </a:rPr>
              <a:t>하루 빨리</a:t>
            </a:r>
            <a:r>
              <a:rPr lang="en-US" altLang="ko-KR" sz="19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19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대한축구협회의 주요 인사들이 </a:t>
            </a:r>
            <a:r>
              <a:rPr lang="en-US" altLang="ko-KR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자신들의 잘못에 대해 책임지고 사퇴를 하는 것이</a:t>
            </a:r>
            <a:r>
              <a:rPr lang="en-US" altLang="ko-KR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 축구의 신뢰를 회복시키는 방법이라고 생각한다</a:t>
            </a:r>
            <a:r>
              <a:rPr lang="en-US" altLang="ko-KR" sz="19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19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2290" name="Picture 2" descr="C:\Users\이주용\Desktop\0000320399_001_201709142130475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1814" y="1098327"/>
            <a:ext cx="2597522" cy="347418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078195" y="450255"/>
            <a:ext cx="4504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신뢰를 잃은 대한민국 </a:t>
            </a:r>
            <a:r>
              <a:rPr lang="ko-KR" altLang="en-US" sz="28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축구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199</Words>
  <Application>Microsoft Office PowerPoint</Application>
  <PresentationFormat>사용자 지정</PresentationFormat>
  <Paragraphs>36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슬라이드 1</vt:lpstr>
      <vt:lpstr>지난 26일, 김호곤 기술위원장은 2018 러시아 월드컵을  신태용 감독 체제로 이어나가겠다고 밝혔다. </vt:lpstr>
      <vt:lpstr>히딩크 감독에 대한 언급도 있었다.</vt:lpstr>
      <vt:lpstr>하지만,  히딩크 감독 논란을 해결하지는 못했다.</vt:lpstr>
      <vt:lpstr>이미 비리로 논란이 불거진 대한축구협회에 대한  비난은 끊임없이 이어지고 있다.</vt:lpstr>
      <vt:lpstr>이러한 논란 속에 우리의 좋은 추억으로 남아있던 2002년 월드컵을 성공적으로 이끌었던,</vt:lpstr>
      <vt:lpstr>우리나라의 축구 발전에 많은 기여를 했던 히딩크 감독이라는 사람을  한 순간에 잃어버렸다는 허탈감이 든다. </vt:lpstr>
      <vt:lpstr>한편  대한민국은 러시아월드컵 본선 진출을 이루었지만,  대한민국 축구의 경기력은 최악이었다.</vt:lpstr>
      <vt:lpstr>한국 축구 팬들은 대한민국의 축구 행정, 경기력 등  모든 것에 실망을 했고, </vt:lpstr>
      <vt:lpstr>현 실태에 대해 비꼬며 비난을 퍼붓고 있다.</vt:lpstr>
      <vt:lpstr>또한, 이전에는 K리그 심판 매수 사건이 있었다.</vt:lpstr>
      <vt:lpstr>이 사건에 대해 K리그 팬들은 분노했고, 이에 대해 중징계를 요구했다.</vt:lpstr>
      <vt:lpstr>하지만 K리그 연맹은 단지 승점 9점 감점과 벌금 1억원이라는 솜방망이 처벌을 내렸다.</vt:lpstr>
      <vt:lpstr>이탈리아의 칼치오폴리(승부조작) 사건에 대해  2단계 강등, 승점 30점 감점이라는 중징계를  내렸던 것과는 비교가 된다.</vt:lpstr>
      <vt:lpstr>이후 K리그는 팬들에게 신뢰를 잃었고 ‘오심 리그’,‘매수 리그’라는  치욕스런 말도 듣고 있다. </vt:lpstr>
      <vt:lpstr>3년 전, 브라질 월드컵과 똑같은 시나리오를 밟지 않기 위해 대한민국 축구는  개혁이 필요해 보인다.</vt:lpstr>
      <vt:lpstr>신뢰를 회복하는 것이 가장 우선이다.</vt:lpstr>
      <vt:lpstr> 하루 빨리 대한축구협회의 주요 인사들이  자신들의 잘못에 대해 책임지고 사퇴를 하는 것이 대한민국 축구의 신뢰를 회복시키는 방법이라고 생각한다.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이주용</dc:creator>
  <cp:lastModifiedBy>이주용</cp:lastModifiedBy>
  <cp:revision>92</cp:revision>
  <dcterms:created xsi:type="dcterms:W3CDTF">2017-10-14T05:49:37Z</dcterms:created>
  <dcterms:modified xsi:type="dcterms:W3CDTF">2017-10-20T12:37:38Z</dcterms:modified>
</cp:coreProperties>
</file>